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P. Abernathy</c:v>
                </c:pt>
                <c:pt idx="1">
                  <c:v>R. Castellano</c:v>
                </c:pt>
                <c:pt idx="2">
                  <c:v>T. Okafor</c:v>
                </c:pt>
                <c:pt idx="3">
                  <c:v>S. Lindqvist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93.2</c:v>
                </c:pt>
                <c:pt idx="2">
                  <c:v>92.1</c:v>
                </c:pt>
                <c:pt idx="3">
                  <c:v>93.5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E-4E90-BF81-8ACA616FAD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AHT (min)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P. Abernathy</c:v>
                </c:pt>
                <c:pt idx="1">
                  <c:v>R. Castellano</c:v>
                </c:pt>
                <c:pt idx="2">
                  <c:v>T. Okafor</c:v>
                </c:pt>
                <c:pt idx="3">
                  <c:v>S. Lindqvist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4.97</c:v>
                </c:pt>
                <c:pt idx="1">
                  <c:v>5.0999999999999996</c:v>
                </c:pt>
                <c:pt idx="2">
                  <c:v>5.12</c:v>
                </c:pt>
                <c:pt idx="3">
                  <c:v>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1E-45C9-9E69-C345CAA59F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B2-47CD-ACB7-8B244DD19A67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B2-47CD-ACB7-8B244DD19A67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B2-47CD-ACB7-8B244DD19A67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B2-47CD-ACB7-8B244DD19A67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9B2-47CD-ACB7-8B244DD19A67}"/>
              </c:ext>
            </c:extLst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9B2-47CD-ACB7-8B244DD19A67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9B2-47CD-ACB7-8B244DD19A67}"/>
              </c:ext>
            </c:extLst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9B2-47CD-ACB7-8B244DD19A67}"/>
              </c:ext>
            </c:extLst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9B2-47CD-ACB7-8B244DD19A67}"/>
              </c:ext>
            </c:extLst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9B2-47CD-ACB7-8B244DD19A6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Sofia Mendoza</c:v>
                </c:pt>
                <c:pt idx="1">
                  <c:v>Daniel Chen</c:v>
                </c:pt>
                <c:pt idx="2">
                  <c:v>Raj Kumar</c:v>
                </c:pt>
                <c:pt idx="3">
                  <c:v>Wei Adeyemi</c:v>
                </c:pt>
                <c:pt idx="4">
                  <c:v>Fatima Murphy</c:v>
                </c:pt>
                <c:pt idx="5">
                  <c:v>Raj Gonzalez</c:v>
                </c:pt>
                <c:pt idx="6">
                  <c:v>Raj Barros</c:v>
                </c:pt>
                <c:pt idx="7">
                  <c:v>Maria Dubois</c:v>
                </c:pt>
                <c:pt idx="8">
                  <c:v>Priya Singh</c:v>
                </c:pt>
                <c:pt idx="9">
                  <c:v>Raj Cole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65.400000000000006</c:v>
                </c:pt>
                <c:pt idx="1">
                  <c:v>77.2</c:v>
                </c:pt>
                <c:pt idx="2">
                  <c:v>80.099999999999994</c:v>
                </c:pt>
                <c:pt idx="3">
                  <c:v>81.2</c:v>
                </c:pt>
                <c:pt idx="4">
                  <c:v>81.8</c:v>
                </c:pt>
                <c:pt idx="5">
                  <c:v>99.6</c:v>
                </c:pt>
                <c:pt idx="6">
                  <c:v>99.7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9B2-47CD-ACB7-8B244DD19A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Unmapped Calls</c:v>
                </c:pt>
              </c:strCache>
            </c:strRef>
          </c:tx>
          <c:spPr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5/4</c:v>
                </c:pt>
                <c:pt idx="1">
                  <c:v>5/5</c:v>
                </c:pt>
                <c:pt idx="2">
                  <c:v>5/6</c:v>
                </c:pt>
                <c:pt idx="3">
                  <c:v>5/7</c:v>
                </c:pt>
                <c:pt idx="4">
                  <c:v>5/8</c:v>
                </c:pt>
                <c:pt idx="5">
                  <c:v>5/11</c:v>
                </c:pt>
                <c:pt idx="6">
                  <c:v>5/12</c:v>
                </c:pt>
                <c:pt idx="7">
                  <c:v>5/13</c:v>
                </c:pt>
                <c:pt idx="8">
                  <c:v>5/14</c:v>
                </c:pt>
                <c:pt idx="9">
                  <c:v>5/15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99</c:v>
                </c:pt>
                <c:pt idx="1">
                  <c:v>113</c:v>
                </c:pt>
                <c:pt idx="2">
                  <c:v>134</c:v>
                </c:pt>
                <c:pt idx="3">
                  <c:v>114</c:v>
                </c:pt>
                <c:pt idx="4">
                  <c:v>121</c:v>
                </c:pt>
                <c:pt idx="5">
                  <c:v>125</c:v>
                </c:pt>
                <c:pt idx="6">
                  <c:v>103</c:v>
                </c:pt>
                <c:pt idx="7">
                  <c:v>90</c:v>
                </c:pt>
                <c:pt idx="8">
                  <c:v>93</c:v>
                </c:pt>
                <c:pt idx="9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76-4B59-AEF9-24B924C8A7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07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5059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Data Quality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Action Items — Two-Week Operational Window, May 2026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S. Girvin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Analytics &amp; BI Professional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709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12064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of the four teams meaningfully behind the others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76148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Scorecard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named agents are driving the result — up or down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81304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Governance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12064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unmapped calls, traced to root cause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86460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4709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actions this review points 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 Review  |  Analysis: call_center_tableau_source.xlsx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reporting window, May 4–15, 2026 — figures pulled directly from the call detail export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CALLS HANDLED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28,864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days, 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13048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teams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93408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SPREAD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65.4–100%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99 named agents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417320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7260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73768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CALLS FLAGGED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72600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37260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 of total volume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429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776472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performance is tight — all four teams land within 1.5 points of each other on resolution rate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performance is where the real spread lives: 65.4% to 100% resolution, 2.9-to-7.7-minute handle time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resolution are essentially uncorrelated (r ≈ −0.06) — being fast doesn't predict being thorough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324612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3429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FOUNDATION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3776472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regional managers, 1 senior manager, 103 agents on the active roster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standardizes 20+ messy legacy exports before anything reaches the reporting layer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window functions handle deduplication and ranking upstream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deck's charts are built directly from that governed export, not recreated by hand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 Review  |  Analysis: call_center_tableau_source.xlsx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of the four teams meaningfully behind the others — short answer: no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BY TEAM (%)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HANDLE TIME BY TEAM (MIN)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943600" y="173736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617720"/>
            <a:ext cx="106984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48006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514807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teams sit within 1.5 points on resolution rate (92.0–93.5%) and 13 seconds on AHT (4.97–5.19 min) — no team is meaningfully behind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genuinely reassuring signal at the team level — the variance worth acting on isn't between managers, it's inside each of their rosters (next slide)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 Review  |  Analysis: call_center_tableau_source.xlsx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named agents are driving the team result — up or down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— LOWEST &amp; HIGHEST NAMED AGENTS (%)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691640"/>
          <a:ext cx="6766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371600"/>
            <a:ext cx="4343400" cy="484632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0" y="1554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FINDINGS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1901952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Adeyemi (T. Okafor's team): busiest agent on his roster (324 calls), yet lowest resolution (81.2%) and slowest AHT (6.42 min) of any team's top-volume agent — busiest ≠ best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Mendoza (R. Castellano's team): single lowest performer company-wide at 65.4% resolution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 4 highest-resolution agents' company-wide sit under S. Lindqvist — worth documenting what that team does differently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resolution barely correlate (r ≈ −0.06) across all 99 agents — manage this agent-by-agent, not by AHT alone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 Review  |  Analysis: call_center_tableau_source.xlsx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that makes the other two defensible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490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CALLS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2174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 of total call 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49040" y="155448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50208" y="1490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AFFECTED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103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9040" y="22174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 of record, all 10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CALLS PER DAY — EVERY DAY OF THE WINDOW</a:t>
            </a:r>
            <a:endParaRPr lang="en-US" sz="10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48640" y="3200400"/>
          <a:ext cx="6035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6858000" y="1371600"/>
            <a:ext cx="4800600" cy="48920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32320" y="15544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RECOMMENDATION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32320" y="1901952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the legacy org chart itself: 4 agent IDs (1067, 1073, 1075, 1085) have no name of record anywhere in this window's export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source-system gap, not a Tableau or pipeline defect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 one-time glitch — unmapped volume shows up every single business day, 90 to 134 calls a day, for the full 10-day window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calls are never dropped from totals — they're flagged so the gap stays visible, not silent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add a not-null validation check at extraction, before data ever reaches the reporting layer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 Review  |  Analysis: call_center_tableau_source.xlsx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actions this review points 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source gap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Agent Name at extraction — this gap held steady for all 10 business days, so it's a standing process fix, not a one-time cleanup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175564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20840" y="16642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two named agents this cycle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Adeyemi (busiest on his team, lowest resolution and slowest AHT among team leaders) and Sofia Mendoza (lowest resolution company-wide at 65.4%)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41788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087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S. Lindqvist's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 4 highest-resolution agents’ company-wide sit on this roster — worth documenting what's replicable before assuming it's just staffing luck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4178808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4087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flagging, not dropping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6177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that caught this gap and these two agents should stay standard practice, every reporting cycle going forward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Operations Review  |  Analysis: call_center_tableau_source.xlsx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Deck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9966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portfolio sample demonstrating monthly operations reporting for a call center analytics program.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and number here was computed directly from call_center_tableau_source.xlsx, the same governed export that feeds the Tableau dashboards — Python standardizes the source exports, SQL Server window functions handle deduplication and ranking, and this analysis and Tableau both consume that same clean output.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synthetic and representative. No actual employer, client, or proprietary data is used.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557784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S. Girvin  •  Senior Analytics &amp; BI Professional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951</Words>
  <Application>Microsoft Office PowerPoint</Application>
  <PresentationFormat>Widescreen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Girvin</cp:lastModifiedBy>
  <cp:revision>2</cp:revision>
  <dcterms:created xsi:type="dcterms:W3CDTF">2026-07-14T17:38:09Z</dcterms:created>
  <dcterms:modified xsi:type="dcterms:W3CDTF">2026-07-14T17:45:54Z</dcterms:modified>
</cp:coreProperties>
</file>